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5" r:id="rId2"/>
    <p:sldId id="286" r:id="rId3"/>
    <p:sldId id="276" r:id="rId4"/>
    <p:sldId id="270" r:id="rId5"/>
    <p:sldId id="277" r:id="rId6"/>
    <p:sldId id="278" r:id="rId7"/>
    <p:sldId id="279" r:id="rId8"/>
    <p:sldId id="281" r:id="rId9"/>
    <p:sldId id="282" r:id="rId10"/>
    <p:sldId id="283" r:id="rId11"/>
    <p:sldId id="284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CC2B6-BDF9-4814-BFB2-687CC7C5EFED}" v="43" dt="2025-12-09T13:06:48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277" autoAdjust="0"/>
    <p:restoredTop sz="94660"/>
  </p:normalViewPr>
  <p:slideViewPr>
    <p:cSldViewPr>
      <p:cViewPr>
        <p:scale>
          <a:sx n="125" d="100"/>
          <a:sy n="125" d="100"/>
        </p:scale>
        <p:origin x="739" y="-18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13:05:44.6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763 259 24575,'0'0'0,"1"0"0,-1 1 0,0-1 0,1 0 0,-1 0 0,1 1 0,-1-1 0,0 0 0,1 0 0,-1 1 0,0-1 0,1 0 0,-1 1 0,0-1 0,1 1 0,-1-1 0,0 0 0,0 1 0,1-1 0,-1 1 0,0-1 0,0 0 0,0 1 0,0-1 0,0 1 0,0-1 0,0 1 0,0-1 0,0 1 0,0-1 0,0 1 0,0-1 0,0 1 0,0-1 0,0 1 0,-4 20 0,-1-7 0,-1-1 0,0 1 0,-1-1 0,-1-1 0,0 1 0,-1-1 0,0-1 0,-1 1 0,0-2 0,-1 1 0,0-2 0,0 1 0,-1-1 0,-18 9 0,7-9 0,23-9 0,-1 0 0,1 0 0,-1 0 0,1 0 0,-1 0 0,0 0 0,1 0 0,-1 0 0,1 0 0,-1 0 0,1 0 0,-1-1 0,1 1 0,-1 0 0,1 0 0,-1 0 0,1-1 0,-1 1 0,1 0 0,-1-1 0,1 1 0,0 0 0,-1-1 0,0-1 0,1 0 0,0 1 0,0-1 0,-1 0 0,1 1 0,0-1 0,0 0 0,1 0 0,-1 1 0,0-1 0,1 0 0,-1 1 0,1-1 0,-1 0 0,1 1 0,0-1 0,-1 1 0,1-1 0,0 1 0,0-1 0,2-1 0,9-14 0,2 0 0,0 0 0,32-28 0,-32 33 0,-1-1 0,0 0 0,-1 0 0,0-1 0,-1-1 0,-1 0 0,11-21 0,-19 33 0,-1 0 0,0 0 0,-1 0 0,1 0 0,0 0 0,-1-1 0,0 1 0,0 0 0,1 0 0,-2 0 0,1 0 0,0 0 0,-1 0 0,0 0 0,1 0 0,-1 0 0,0 0 0,-1 0 0,1 0 0,0 0 0,-1 0 0,0 1 0,1-1 0,-1 1 0,0-1 0,0 1 0,-1 0 0,1 0 0,-5-4 0,-5-3 0,-1 1 0,1 0 0,-2 1 0,1 0 0,-16-5 0,-15-3 0,0 1 0,-1 2 0,0 3 0,-53-5 0,7 6 0,-104 6 0,191 2 0,0 0 0,0 0 0,1 0 0,-1 0 0,0 1 0,0-1 0,1 1 0,-1 0 0,1 0 0,-1 1 0,1-1 0,-1 1 0,1-1 0,0 1 0,0 0 0,0 1 0,0-1 0,0 0 0,0 1 0,1 0 0,-1-1 0,1 1 0,-1 0 0,1 0 0,0 0 0,0 1 0,1-1 0,-1 0 0,1 1 0,0-1 0,-1 1 0,2 0 0,-1-1 0,0 1 0,0 3 0,-1 10 0,1-1 0,1 0 0,0 0 0,1 1 0,0-1 0,2 0 0,0 0 0,0 0 0,2 0 0,0-1 0,0 0 0,2 0 0,0 0 0,1-1 0,0 0 0,14 19 0,-13-22 0,-1-1 0,1 0 0,1 0 0,0-1 0,0 0 0,1 0 0,0-1 0,0-1 0,1 0 0,0 0 0,0-1 0,0-1 0,1 0 0,0-1 0,0 0 0,1-1 0,-1 0 0,0-1 0,27 0 0,-27-3 0,1 0 0,-1-1 0,0 0 0,1-1 0,-1-1 0,0 0 0,16-8 0,-24 10 0,-1-1 0,0 1 0,0-1 0,0 0 0,0 0 0,0 0 0,-1-1 0,1 1 0,-1-1 0,4-5 0,-5 6 0,-1 1 0,0-1 0,0 0 0,0 0 0,0 0 0,0 0 0,0 0 0,-1 0 0,1 0 0,-1 0 0,0 0 0,0 0 0,0 0 0,0 0 0,-1 0 0,1 0 0,-2-6 0,1 6 0,-1 1 0,1-1 0,0 1 0,-1-1 0,1 1 0,-1 0 0,0-1 0,0 1 0,0 0 0,0 0 0,0 0 0,0 1 0,0-1 0,-1 0 0,1 1 0,0 0 0,-1-1 0,0 1 0,1 0 0,-1 0 0,0 0 0,-5 0 0,-6-2 0,0 1 0,-1 1 0,-17 0 0,17 1 0,-10 0 0,-1 2 0,1 0 0,0 1 0,-30 9 0,56-12 0,-1 0 0,0-1 0,0 1 0,0 0 0,0 0 0,0 0 0,0 0 0,1 0 0,-1-1 0,0 1 0,0 0 0,0 0 0,0 0 0,0 0 0,0-1 0,0 1 0,0 0 0,0 0 0,0 0 0,0-1 0,0 1 0,0 0 0,0 0 0,0 0 0,0 0 0,0-1 0,0 1 0,0 0 0,0 0 0,0 0 0,0-1 0,0 1 0,0 0 0,0 0 0,0 0 0,-1 0 0,1 0 0,0-1 0,0 1 0,0 0 0,0 0 0,0 0 0,-1 0 0,1 0 0,0 0 0,0-1 0,0 1 0,0 0 0,0 0 0,-1 0 0,1 0 0,0 0 0,0 0 0,0 0 0,-1 0 0,1 0 0,0 0 0,0 0 0,0 0 0,-1 0 0,1 0 0,0 0 0,0 0 0,0 0 0,0 0 0,-1 0 0,1 0 0,12-17 0,-9 12 0,24-37 0,-1-1 0,34-83 0,-59 124 0,-1 0 0,1-1 0,0 1 0,0 0 0,0 0 0,0 0 0,0 0 0,0 0 0,1 0 0,-1 0 0,1 0 0,-1 0 0,1 1 0,0-1 0,0 0 0,-1 1 0,1 0 0,0-1 0,1 1 0,-1 0 0,0 0 0,0 0 0,0 0 0,1 1 0,-1-1 0,0 1 0,1-1 0,-1 1 0,0 0 0,1 0 0,-1 0 0,0 0 0,1 0 0,-1 0 0,1 1 0,-1-1 0,0 1 0,0 0 0,1-1 0,-1 1 0,0 0 0,3 2 0,11 3-273,0 0 0,1-1 0,0-1 0,28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11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cognitive-service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docs.python.org/3/" TargetMode="External"/><Relationship Id="rId4" Type="http://schemas.openxmlformats.org/officeDocument/2006/relationships/hyperlink" Target="https://flask.palletsprojects.com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sz="2700" dirty="0">
                <a:ea typeface="Droid Sans Fallback"/>
                <a:cs typeface="Times New Roman" pitchFamily="18" charset="0"/>
              </a:rPr>
              <a:t>Resume Analyzer using Azure AI</a:t>
            </a:r>
            <a:br>
              <a:rPr lang="en-US" sz="2000" dirty="0">
                <a:ea typeface="Droid Sans Fallback"/>
                <a:cs typeface="Times New Roman" pitchFamily="18" charset="0"/>
              </a:rPr>
            </a:br>
            <a:r>
              <a:rPr lang="en-US" sz="2400" dirty="0">
                <a:ea typeface="Droid Sans Fallback"/>
                <a:cs typeface="Times New Roman" pitchFamily="18" charset="0"/>
              </a:rPr>
              <a:t>Project Synopsis Presentation </a:t>
            </a:r>
            <a:br>
              <a:rPr lang="en-US" sz="2400" dirty="0">
                <a:ea typeface="Droid Sans Fallback"/>
                <a:cs typeface="Times New Roman" pitchFamily="18" charset="0"/>
              </a:rPr>
            </a:br>
            <a:r>
              <a:rPr lang="en-US" sz="2000" dirty="0">
                <a:latin typeface="Calibri" pitchFamily="34" charset="0"/>
                <a:ea typeface="Droid Sans Fallback"/>
                <a:cs typeface="Times New Roman" pitchFamily="18" charset="0"/>
              </a:rPr>
              <a:t>Date: 10/12/2025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2323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61224" y="6122424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FACULTY OF ENGINEERING &amp; COMPUTING SCIENCES</a:t>
            </a:r>
            <a:endParaRPr lang="en-US" sz="700" dirty="0"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TEERTHANKER MAHAVEER UNIVERSITY, MORADABAD</a:t>
            </a:r>
            <a:endParaRPr lang="en-US" b="1" dirty="0"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01" y="4854798"/>
            <a:ext cx="1204101" cy="10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081301" y="3181144"/>
            <a:ext cx="40910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ea typeface="Droid Sans Fallback"/>
                <a:cs typeface="Times New Roman" pitchFamily="18" charset="0"/>
              </a:rPr>
              <a:t>                Student Name: Bairla Yeshwanth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ea typeface="Droid Sans Fallback"/>
                <a:cs typeface="Times New Roman" pitchFamily="18" charset="0"/>
              </a:rPr>
              <a:t>Student ID:TCA2359055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733" y="3198719"/>
            <a:ext cx="3740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Times New Roman" pitchFamily="18" charset="0"/>
              </a:rPr>
              <a:t>Project Guide: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Times New Roman" pitchFamily="18" charset="0"/>
              </a:rPr>
              <a:t>Mr. Nirpesh Sir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Assistant Professor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559" y="1863247"/>
            <a:ext cx="80417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Industrial Training(ECS599)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Degree </a:t>
            </a:r>
            <a:r>
              <a:rPr lang="en-US" sz="2000" b="1">
                <a:latin typeface="Calibri" pitchFamily="34" charset="0"/>
                <a:ea typeface="Droid Sans Fallback"/>
                <a:cs typeface="Times New Roman" pitchFamily="18" charset="0"/>
              </a:rPr>
              <a:t>: </a:t>
            </a:r>
            <a:r>
              <a:rPr lang="en-US" b="1"/>
              <a:t>BTECH(AI-ML-DL)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28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Team Details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799773"/>
              </p:ext>
            </p:extLst>
          </p:nvPr>
        </p:nvGraphicFramePr>
        <p:xfrm>
          <a:off x="386882" y="1372628"/>
          <a:ext cx="8361582" cy="1497291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5877119">
                  <a:extLst>
                    <a:ext uri="{9D8B030D-6E8A-4147-A177-3AD203B41FA5}">
                      <a16:colId xmlns:a16="http://schemas.microsoft.com/office/drawing/2014/main" val="3341467042"/>
                    </a:ext>
                  </a:extLst>
                </a:gridCol>
                <a:gridCol w="2484463">
                  <a:extLst>
                    <a:ext uri="{9D8B030D-6E8A-4147-A177-3AD203B41FA5}">
                      <a16:colId xmlns:a16="http://schemas.microsoft.com/office/drawing/2014/main" val="4186870229"/>
                    </a:ext>
                  </a:extLst>
                </a:gridCol>
              </a:tblGrid>
              <a:tr h="512982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Student Name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Role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531479"/>
                  </a:ext>
                </a:extLst>
              </a:tr>
              <a:tr h="42741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Bairla Yeshwanth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Full Stack Developer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163912"/>
                  </a:ext>
                </a:extLst>
              </a:tr>
              <a:tr h="250955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0564458"/>
                  </a:ext>
                </a:extLst>
              </a:tr>
              <a:tr h="250955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848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1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399"/>
            <a:ext cx="9144000" cy="51894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Calibri "/>
              </a:rPr>
              <a:t>Project Brief:</a:t>
            </a:r>
          </a:p>
          <a:p>
            <a:r>
              <a:rPr lang="en-US" sz="1400" dirty="0">
                <a:latin typeface="Calibri "/>
              </a:rPr>
              <a:t>The Resume Analyzer is a Flask-based web application that uses </a:t>
            </a:r>
            <a:r>
              <a:rPr lang="en-US" sz="1400" b="1" dirty="0">
                <a:latin typeface="Calibri "/>
              </a:rPr>
              <a:t>Azure AI Document Intelligence</a:t>
            </a:r>
            <a:r>
              <a:rPr lang="en-US" sz="1400" dirty="0">
                <a:latin typeface="Calibri "/>
              </a:rPr>
              <a:t> to automatically extract key information from resumes. Users upload a PDF resume, and the system identifies fields such as name, contact details, skills, education, and experience. The extracted data is then displayed in a clean, structured format. This project demonstrates cloud-based AI integration, resume parsing, and automated information extraction.</a:t>
            </a:r>
            <a:br>
              <a:rPr lang="en-US" sz="1400" dirty="0">
                <a:latin typeface="Calibri "/>
              </a:rPr>
            </a:br>
            <a:endParaRPr lang="en-US" sz="1400" dirty="0">
              <a:latin typeface="Calibri "/>
            </a:endParaRPr>
          </a:p>
          <a:p>
            <a:pPr marL="0" indent="0">
              <a:buNone/>
            </a:pPr>
            <a:r>
              <a:rPr lang="en-US" sz="1400" b="1" dirty="0">
                <a:latin typeface="Calibri "/>
              </a:rPr>
              <a:t>Functions / Modules</a:t>
            </a:r>
          </a:p>
          <a:p>
            <a:r>
              <a:rPr lang="en-US" sz="1400" b="1" dirty="0">
                <a:latin typeface="Calibri "/>
              </a:rPr>
              <a:t>1. Resume Upload Module</a:t>
            </a:r>
          </a:p>
          <a:p>
            <a:r>
              <a:rPr lang="en-US" sz="1400" dirty="0">
                <a:latin typeface="Calibri "/>
              </a:rPr>
              <a:t>Allows users to upload PDF resumes through a simple web interface.</a:t>
            </a:r>
          </a:p>
          <a:p>
            <a:r>
              <a:rPr lang="en-US" sz="1400" b="1" dirty="0">
                <a:latin typeface="Calibri "/>
              </a:rPr>
              <a:t>2. Azure Document Intelligence Module</a:t>
            </a:r>
          </a:p>
          <a:p>
            <a:r>
              <a:rPr lang="en-US" sz="1400" dirty="0">
                <a:latin typeface="Calibri "/>
              </a:rPr>
              <a:t>Sends the uploaded resume to Azure Form Recognizer API to extract structured data like:</a:t>
            </a:r>
          </a:p>
          <a:p>
            <a:r>
              <a:rPr lang="en-US" sz="1400" dirty="0">
                <a:latin typeface="Calibri "/>
              </a:rPr>
              <a:t> Name Email Phone Skills Education, Work &amp; Experience</a:t>
            </a:r>
          </a:p>
          <a:p>
            <a:r>
              <a:rPr lang="en-US" sz="1400" b="1" dirty="0">
                <a:latin typeface="Calibri "/>
              </a:rPr>
              <a:t>3. Data Processing Module</a:t>
            </a:r>
          </a:p>
          <a:p>
            <a:r>
              <a:rPr lang="en-US" sz="1400" dirty="0">
                <a:latin typeface="Calibri "/>
              </a:rPr>
              <a:t>Cleans and organizes the extracted information and formats it for output.</a:t>
            </a:r>
          </a:p>
          <a:p>
            <a:r>
              <a:rPr lang="en-US" sz="1400" b="1" dirty="0">
                <a:latin typeface="Calibri "/>
              </a:rPr>
              <a:t>4. Display / Result Module</a:t>
            </a:r>
          </a:p>
          <a:p>
            <a:r>
              <a:rPr lang="en-US" sz="1400" dirty="0">
                <a:latin typeface="Calibri "/>
              </a:rPr>
              <a:t>Shows the analyzed results on a webpage in a structured, readable layout.</a:t>
            </a:r>
          </a:p>
          <a:p>
            <a:r>
              <a:rPr lang="en-US" sz="1400" b="1" dirty="0">
                <a:latin typeface="Calibri "/>
              </a:rPr>
              <a:t>5. Backend Module (Flask)</a:t>
            </a:r>
          </a:p>
          <a:p>
            <a:r>
              <a:rPr lang="en-US" sz="1400" dirty="0">
                <a:latin typeface="Calibri "/>
              </a:rPr>
              <a:t>Handles routing, API communication, environment configuration, and result rendering.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Brief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298600"/>
            <a:ext cx="9144000" cy="559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180959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194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+mj-lt"/>
              </a:rPr>
              <a:t>Methodologies</a:t>
            </a:r>
          </a:p>
          <a:p>
            <a:r>
              <a:rPr lang="en-IN" sz="1400" b="1" dirty="0">
                <a:latin typeface="+mj-lt"/>
              </a:rPr>
              <a:t>Cloud-based AI document analysis:</a:t>
            </a:r>
            <a:r>
              <a:rPr lang="en-IN" sz="1400" dirty="0">
                <a:latin typeface="+mj-lt"/>
              </a:rPr>
              <a:t> Uses Azure AI Document Intelligence (Form Recognizer) to extract structured data (name, contact, skills, education, experience) from resumes.</a:t>
            </a:r>
          </a:p>
          <a:p>
            <a:r>
              <a:rPr lang="en-IN" sz="1400" b="1" dirty="0">
                <a:latin typeface="+mj-lt"/>
              </a:rPr>
              <a:t>Rule-based post-processing:</a:t>
            </a:r>
            <a:r>
              <a:rPr lang="en-IN" sz="1400" dirty="0">
                <a:latin typeface="+mj-lt"/>
              </a:rPr>
              <a:t> Cleans and validates the extracted fields (e.g., checking email/phone patterns, separating skills, etc.).</a:t>
            </a:r>
          </a:p>
          <a:p>
            <a:r>
              <a:rPr lang="en-IN" sz="1400" b="1" dirty="0">
                <a:latin typeface="+mj-lt"/>
              </a:rPr>
              <a:t>Web-based client–server architecture:</a:t>
            </a:r>
            <a:r>
              <a:rPr lang="en-IN" sz="1400" dirty="0">
                <a:latin typeface="+mj-lt"/>
              </a:rPr>
              <a:t> Flask backend handles requests, communicates with Azure API, and serves results to the user via HTML templates.</a:t>
            </a:r>
          </a:p>
          <a:p>
            <a:r>
              <a:rPr lang="en-IN" sz="1400" b="1" dirty="0">
                <a:latin typeface="+mj-lt"/>
              </a:rPr>
              <a:t>Form-driven user interaction:</a:t>
            </a:r>
            <a:r>
              <a:rPr lang="en-IN" sz="1400" dirty="0">
                <a:latin typeface="+mj-lt"/>
              </a:rPr>
              <a:t> Users upload resumes through a simple web form; responses are shown in a clean result page for easy screening.</a:t>
            </a:r>
          </a:p>
          <a:p>
            <a:pPr marL="0" indent="0">
              <a:buNone/>
            </a:pPr>
            <a:r>
              <a:rPr lang="en-IN" sz="1400" b="1" dirty="0">
                <a:latin typeface="+mj-lt"/>
              </a:rPr>
              <a:t>Technologies</a:t>
            </a:r>
          </a:p>
          <a:p>
            <a:r>
              <a:rPr lang="en-IN" sz="1400" b="1" dirty="0">
                <a:latin typeface="+mj-lt"/>
              </a:rPr>
              <a:t>Programming Language:</a:t>
            </a:r>
            <a:r>
              <a:rPr lang="en-IN" sz="1400" dirty="0">
                <a:latin typeface="+mj-lt"/>
              </a:rPr>
              <a:t> Python</a:t>
            </a:r>
          </a:p>
          <a:p>
            <a:r>
              <a:rPr lang="en-IN" sz="1400" b="1" dirty="0">
                <a:latin typeface="+mj-lt"/>
              </a:rPr>
              <a:t>Web Framework:</a:t>
            </a:r>
            <a:r>
              <a:rPr lang="en-IN" sz="1400" dirty="0">
                <a:latin typeface="+mj-lt"/>
              </a:rPr>
              <a:t> Flask</a:t>
            </a:r>
          </a:p>
          <a:p>
            <a:r>
              <a:rPr lang="en-IN" sz="1400" b="1" dirty="0">
                <a:latin typeface="+mj-lt"/>
              </a:rPr>
              <a:t>AI Service:</a:t>
            </a:r>
            <a:r>
              <a:rPr lang="en-IN" sz="1400" dirty="0">
                <a:latin typeface="+mj-lt"/>
              </a:rPr>
              <a:t> Azure AI Document Intelligence (Form Recognizer)</a:t>
            </a:r>
          </a:p>
          <a:p>
            <a:r>
              <a:rPr lang="en-IN" sz="1400" b="1" dirty="0">
                <a:latin typeface="+mj-lt"/>
              </a:rPr>
              <a:t>Frontend:</a:t>
            </a:r>
            <a:r>
              <a:rPr lang="en-IN" sz="1400" dirty="0">
                <a:latin typeface="+mj-lt"/>
              </a:rPr>
              <a:t> HTML, CSS (Flask templates/ and static/ folders)</a:t>
            </a:r>
          </a:p>
          <a:p>
            <a:r>
              <a:rPr lang="en-IN" sz="1400" b="1" dirty="0">
                <a:latin typeface="+mj-lt"/>
              </a:rPr>
              <a:t>Deployment Platform:</a:t>
            </a:r>
            <a:r>
              <a:rPr lang="en-IN" sz="1400" dirty="0">
                <a:latin typeface="+mj-lt"/>
              </a:rPr>
              <a:t> Render (for hosting the web app)</a:t>
            </a:r>
          </a:p>
          <a:p>
            <a:pPr marL="0" indent="0">
              <a:buNone/>
            </a:pPr>
            <a:r>
              <a:rPr lang="en-IN" sz="1400" b="1" dirty="0">
                <a:latin typeface="+mj-lt"/>
              </a:rPr>
              <a:t> Tools</a:t>
            </a:r>
          </a:p>
          <a:p>
            <a:r>
              <a:rPr lang="en-IN" sz="1400" b="1" dirty="0">
                <a:latin typeface="+mj-lt"/>
              </a:rPr>
              <a:t>Code &amp; Project Management:</a:t>
            </a:r>
            <a:r>
              <a:rPr lang="en-IN" sz="1400" dirty="0">
                <a:latin typeface="+mj-lt"/>
              </a:rPr>
              <a:t> Git, GitHub</a:t>
            </a:r>
          </a:p>
          <a:p>
            <a:r>
              <a:rPr lang="en-IN" sz="1400" b="1" dirty="0">
                <a:latin typeface="+mj-lt"/>
              </a:rPr>
              <a:t>Environment &amp; Config:</a:t>
            </a:r>
            <a:r>
              <a:rPr lang="en-IN" sz="1400" dirty="0">
                <a:latin typeface="+mj-lt"/>
              </a:rPr>
              <a:t> .env for API keys and Azure endpoint configuration</a:t>
            </a:r>
          </a:p>
          <a:p>
            <a:r>
              <a:rPr lang="en-IN" sz="1400" b="1" dirty="0">
                <a:latin typeface="+mj-lt"/>
              </a:rPr>
              <a:t>Testing Data:</a:t>
            </a:r>
            <a:r>
              <a:rPr lang="en-IN" sz="1400" dirty="0">
                <a:latin typeface="+mj-lt"/>
              </a:rPr>
              <a:t> Sample resumes stored in test_resumes/ for validating extraction</a:t>
            </a:r>
          </a:p>
          <a:p>
            <a:r>
              <a:rPr lang="en-IN" sz="1400" b="1" dirty="0">
                <a:latin typeface="+mj-lt"/>
              </a:rPr>
              <a:t>Browser &amp; Developer Tools:</a:t>
            </a:r>
            <a:r>
              <a:rPr lang="en-IN" sz="1400" dirty="0">
                <a:latin typeface="+mj-lt"/>
              </a:rPr>
              <a:t> Used to test UI, inspect requests, and debug responses from Azure service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Methodologies/ Technologies/ Tools to be used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DE0D51-FB03-3B8A-9A45-A526A0E72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385" y="914400"/>
            <a:ext cx="4042832" cy="525145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Context Diagram (Overall Project)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8E7E32-8CEF-22BE-35A3-0595E716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/>
          <a:p>
            <a:fld id="{08FC1071-F2DF-4CA9-AA63-FF97A16BD739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-18538" y="-72291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Entity Relationship Diagram (ERD)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7C313E-A58D-04BC-3CDC-9AC353016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196232"/>
            <a:ext cx="9144000" cy="2538560"/>
          </a:xfrm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Data Flow Diagram (DFD)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0949043-541D-329D-9DA2-9E66DBC5D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" b="20669"/>
          <a:stretch>
            <a:fillRect/>
          </a:stretch>
        </p:blipFill>
        <p:spPr>
          <a:xfrm>
            <a:off x="212483" y="2085882"/>
            <a:ext cx="8565477" cy="2664296"/>
          </a:xfrm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-20067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Flow Chart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118B92-A841-27B1-2F6A-BAD516EFA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046439"/>
            <a:ext cx="9144000" cy="45497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14BE964-671A-DA31-B21E-26ECE32513D9}"/>
                  </a:ext>
                </a:extLst>
              </p14:cNvPr>
              <p14:cNvContentPartPr/>
              <p14:nvPr/>
            </p14:nvContentPartPr>
            <p14:xfrm>
              <a:off x="8206680" y="5111160"/>
              <a:ext cx="282960" cy="178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14BE964-671A-DA31-B21E-26ECE32513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44040" y="5048520"/>
                <a:ext cx="408600" cy="30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928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1C212D-26F8-2D95-A8F5-283474871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991" y="914400"/>
            <a:ext cx="6454017" cy="525145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Use Case Diagram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73713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\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/>
              <a:t>1. Automated Resume Processing</a:t>
            </a:r>
          </a:p>
          <a:p>
            <a:r>
              <a:rPr lang="en-US" sz="1600" dirty="0"/>
              <a:t>The system removes manual effort by automatically extracting name, skills, education, work experience, and other key sections from resumes.</a:t>
            </a:r>
          </a:p>
          <a:p>
            <a:pPr marL="0" indent="0">
              <a:buNone/>
            </a:pPr>
            <a:r>
              <a:rPr lang="en-US" sz="1600" b="1" dirty="0"/>
              <a:t>2. High Accuracy With Azure AI</a:t>
            </a:r>
          </a:p>
          <a:p>
            <a:r>
              <a:rPr lang="en-US" sz="1600" dirty="0"/>
              <a:t>Leveraging </a:t>
            </a:r>
            <a:r>
              <a:rPr lang="en-US" sz="1600" b="1" dirty="0"/>
              <a:t>Azure Document Intelligence (Form Recognizer)</a:t>
            </a:r>
            <a:r>
              <a:rPr lang="en-US" sz="1600" dirty="0"/>
              <a:t> ensures precise extraction even from complex or differently formatted resumes.</a:t>
            </a:r>
          </a:p>
          <a:p>
            <a:pPr marL="0" indent="0">
              <a:buNone/>
            </a:pPr>
            <a:r>
              <a:rPr lang="en-US" sz="1600" b="1" dirty="0"/>
              <a:t>3. Fast and Efficient Analysis</a:t>
            </a:r>
          </a:p>
          <a:p>
            <a:r>
              <a:rPr lang="en-US" sz="1600" dirty="0"/>
              <a:t>Resumes are processed in seconds, enabling faster screening compared to manual review.</a:t>
            </a:r>
          </a:p>
          <a:p>
            <a:pPr marL="0" indent="0">
              <a:buNone/>
            </a:pPr>
            <a:r>
              <a:rPr lang="en-US" sz="1600" b="1" dirty="0"/>
              <a:t>4. Reduces Human Error</a:t>
            </a:r>
          </a:p>
          <a:p>
            <a:r>
              <a:rPr lang="en-US" sz="1600" dirty="0"/>
              <a:t>Automated extraction avoids mistakes or omissions that can occur when reading through multiple resumes manually.</a:t>
            </a:r>
          </a:p>
          <a:p>
            <a:pPr marL="0" indent="0">
              <a:buNone/>
            </a:pPr>
            <a:r>
              <a:rPr lang="en-US" sz="1600" b="1" dirty="0"/>
              <a:t>5. Web-Based and Easy to Use</a:t>
            </a:r>
          </a:p>
          <a:p>
            <a:r>
              <a:rPr lang="en-US" sz="1600" dirty="0"/>
              <a:t>Users can upload a resume through a simple interface without needing technical knowledge.</a:t>
            </a:r>
          </a:p>
          <a:p>
            <a:pPr marL="0" indent="0">
              <a:buNone/>
            </a:pPr>
            <a:r>
              <a:rPr lang="en-US" sz="1600" b="1" dirty="0"/>
              <a:t>6. Standardized Resume Interpretation</a:t>
            </a:r>
          </a:p>
          <a:p>
            <a:r>
              <a:rPr lang="en-US" sz="1600" dirty="0"/>
              <a:t>All resumes are processed uniformly, ensuring consistent evaluation regardless of their layout or style.</a:t>
            </a:r>
          </a:p>
          <a:p>
            <a:pPr marL="0" indent="0">
              <a:buNone/>
            </a:pPr>
            <a:r>
              <a:rPr lang="en-US" sz="1600" b="1" dirty="0"/>
              <a:t>7. Scalable and Cloud-Backed</a:t>
            </a:r>
          </a:p>
          <a:p>
            <a:r>
              <a:rPr lang="en-US" sz="1600" dirty="0"/>
              <a:t>The system can scale easily using Azure services to handle many resumes simultaneously.</a:t>
            </a:r>
          </a:p>
          <a:p>
            <a:pPr marL="0" indent="0">
              <a:buNone/>
            </a:pPr>
            <a:r>
              <a:rPr lang="en-US" sz="1600" b="1" dirty="0"/>
              <a:t>8. Helps Recruiters and HR Teams</a:t>
            </a:r>
          </a:p>
          <a:p>
            <a:r>
              <a:rPr lang="en-US" sz="1600" dirty="0"/>
              <a:t>Significantly speeds up initial shortlisting by providing structured, readable output of candidate information.</a:t>
            </a:r>
          </a:p>
          <a:p>
            <a:pPr marL="0" indent="0">
              <a:buNone/>
            </a:pPr>
            <a:r>
              <a:rPr lang="en-US" sz="1600" b="1" dirty="0"/>
              <a:t>9. Extensible for Additional Features</a:t>
            </a:r>
          </a:p>
          <a:p>
            <a:r>
              <a:rPr lang="en-US" sz="1600" dirty="0"/>
              <a:t>The system can be expanded with:</a:t>
            </a:r>
          </a:p>
          <a:p>
            <a:r>
              <a:rPr lang="en-US" sz="1600" dirty="0"/>
              <a:t>ATS scoring</a:t>
            </a:r>
          </a:p>
          <a:p>
            <a:r>
              <a:rPr lang="en-US" sz="1600" dirty="0"/>
              <a:t>Job description matching</a:t>
            </a:r>
          </a:p>
          <a:p>
            <a:r>
              <a:rPr lang="en-US" sz="1600" dirty="0"/>
              <a:t>Skill ranking</a:t>
            </a:r>
          </a:p>
          <a:p>
            <a:r>
              <a:rPr lang="en-US" sz="1600" dirty="0"/>
              <a:t>PDF export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Advantage of The Project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69440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Microsoft Azure Cognitive Services Documentation: </a:t>
            </a:r>
            <a:r>
              <a:rPr lang="en-US" u="sng" dirty="0">
                <a:hlinkClick r:id="rId3"/>
              </a:rPr>
              <a:t>https://learn.microsoft.com/en-us/azure/cognitive-services/</a:t>
            </a:r>
            <a:endParaRPr lang="en-IN" dirty="0"/>
          </a:p>
          <a:p>
            <a:pPr lvl="0"/>
            <a:r>
              <a:rPr lang="en-US" dirty="0"/>
              <a:t>Flask Framework Official Documentation — </a:t>
            </a:r>
            <a:r>
              <a:rPr lang="en-US" u="sng" dirty="0">
                <a:hlinkClick r:id="rId4"/>
              </a:rPr>
              <a:t>https://flask.palletsprojects.com/</a:t>
            </a:r>
            <a:endParaRPr lang="en-IN" dirty="0"/>
          </a:p>
          <a:p>
            <a:pPr lvl="0"/>
            <a:r>
              <a:rPr lang="en-IN" dirty="0"/>
              <a:t>Python Official Documentation — </a:t>
            </a:r>
            <a:r>
              <a:rPr lang="en-IN" u="sng" dirty="0">
                <a:hlinkClick r:id="rId5"/>
              </a:rPr>
              <a:t>https://docs.python.org/3/</a:t>
            </a:r>
            <a:endParaRPr lang="en-IN" dirty="0"/>
          </a:p>
          <a:p>
            <a:pPr lvl="0"/>
            <a:r>
              <a:rPr lang="en-US" dirty="0"/>
              <a:t>Medium Articles and GitHub Repositories on Resume Parsing using NLP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References, if any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846</Words>
  <Application>Microsoft Office PowerPoint</Application>
  <PresentationFormat>On-screen Show (4:3)</PresentationFormat>
  <Paragraphs>125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</vt:lpstr>
      <vt:lpstr>Droid Sans Fallback</vt:lpstr>
      <vt:lpstr>Office Theme</vt:lpstr>
      <vt:lpstr>Resume Analyzer using Azure AI Project Synopsis Presentation  Date: 10/12/2025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\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Bairla Yeshwanth</cp:lastModifiedBy>
  <cp:revision>104</cp:revision>
  <dcterms:created xsi:type="dcterms:W3CDTF">2016-07-30T14:16:51Z</dcterms:created>
  <dcterms:modified xsi:type="dcterms:W3CDTF">2025-12-09T13:08:33Z</dcterms:modified>
</cp:coreProperties>
</file>